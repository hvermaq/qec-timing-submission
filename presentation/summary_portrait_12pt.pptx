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7772400" cy="2145079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274320" y="274320"/>
            <a:ext cx="7223760" cy="289560"/>
          </a:xfrm>
          <a:prstGeom prst="rect">
            <a:avLst/>
          </a:prstGeom>
          <a:noFill/>
        </p:spPr>
        <p:txBody>
          <a:bodyPr wrap="square" lIns="0" rIns="0" tIns="0" bIns="0">
            <a:spAutoFit/>
          </a:bodyPr>
          <a:lstStyle/>
          <a:p>
            <a:pPr algn="l">
              <a:lnSpc>
                <a:spcPct val="118000"/>
              </a:lnSpc>
            </a:pPr>
            <a:r>
              <a:rPr sz="1400" b="1" i="0">
                <a:solidFill>
                  <a:srgbClr val="0B4F6C"/>
                </a:solidFill>
                <a:latin typeface="Arial"/>
              </a:rPr>
              <a:t>Optimal syndrome timing on trapped-ion hardware</a:t>
            </a:r>
          </a:p>
        </p:txBody>
      </p:sp>
      <p:sp>
        <p:nvSpPr>
          <p:cNvPr id="3" name="Byline"/>
          <p:cNvSpPr txBox="1"/>
          <p:nvPr/>
        </p:nvSpPr>
        <p:spPr>
          <a:xfrm>
            <a:off x="274320" y="582168"/>
            <a:ext cx="7223760" cy="256032"/>
          </a:xfrm>
          <a:prstGeom prst="rect">
            <a:avLst/>
          </a:prstGeom>
          <a:noFill/>
        </p:spPr>
        <p:txBody>
          <a:bodyPr wrap="square" lIns="0" rIns="0" tIns="0" bIns="0">
            <a:spAutoFit/>
          </a:bodyPr>
          <a:lstStyle/>
          <a:p>
            <a:pPr algn="l">
              <a:lnSpc>
                <a:spcPct val="118000"/>
              </a:lnSpc>
            </a:pPr>
            <a:r>
              <a:rPr sz="1200" b="0" i="0">
                <a:solidFill>
                  <a:srgbClr val="555D68"/>
                </a:solidFill>
                <a:latin typeface="Arial"/>
              </a:rPr>
              <a:t>14 Oct 2026  ·  Harshit Verma</a:t>
            </a:r>
          </a:p>
        </p:txBody>
      </p:sp>
      <p:sp>
        <p:nvSpPr>
          <p:cNvPr id="4" name="Heading Problem statement"/>
          <p:cNvSpPr txBox="1"/>
          <p:nvPr/>
        </p:nvSpPr>
        <p:spPr>
          <a:xfrm>
            <a:off x="274320" y="947928"/>
            <a:ext cx="7223760" cy="289560"/>
          </a:xfrm>
          <a:prstGeom prst="rect">
            <a:avLst/>
          </a:prstGeom>
          <a:noFill/>
        </p:spPr>
        <p:txBody>
          <a:bodyPr wrap="square" lIns="0" rIns="0" tIns="0" bIns="0">
            <a:spAutoFit/>
          </a:bodyPr>
          <a:lstStyle/>
          <a:p>
            <a:pPr algn="l">
              <a:lnSpc>
                <a:spcPct val="118000"/>
              </a:lnSpc>
            </a:pPr>
            <a:r>
              <a:rPr sz="1400" b="1" i="0">
                <a:solidFill>
                  <a:srgbClr val="0B4F6C"/>
                </a:solidFill>
                <a:latin typeface="Arial"/>
              </a:rPr>
              <a:t>Problem statement</a:t>
            </a:r>
          </a:p>
        </p:txBody>
      </p:sp>
      <p:sp>
        <p:nvSpPr>
          <p:cNvPr id="5" name="Problem text"/>
          <p:cNvSpPr txBox="1"/>
          <p:nvPr/>
        </p:nvSpPr>
        <p:spPr>
          <a:xfrm>
            <a:off x="274320" y="1274064"/>
            <a:ext cx="7223760" cy="1664208"/>
          </a:xfrm>
          <a:prstGeom prst="rect">
            <a:avLst/>
          </a:prstGeom>
          <a:noFill/>
        </p:spPr>
        <p:txBody>
          <a:bodyPr wrap="square" lIns="0" rIns="0" tIns="0" bIns="0">
            <a:spAutoFit/>
          </a:bodyPr>
          <a:lstStyle/>
          <a:p>
            <a:pPr algn="l">
              <a:lnSpc>
                <a:spcPct val="118000"/>
              </a:lnSpc>
            </a:pPr>
            <a:r>
              <a:rPr sz="1200" b="0" i="0">
                <a:solidFill>
                  <a:srgbClr val="1B222C"/>
                </a:solidFill>
                <a:latin typeface="Arial"/>
              </a:rPr>
              <a:t>An idle surface-code memory has a syndrome interval Δt* that minimises logical error per unit time due to the tradeoff between idling and noisy syndrome extraction. The project tests this tradeoff in three steps: (a) phenomenological simulation using artificial noise injection in guppy (b) dephasing noise model (based on quantinuum hardware characteristics reporteed) alongwith gate noise built in Selene and stim equivalent circuits. (c) relating physical parameters of a quantinuum-like device, the physical QEC round time, to the tradeoff; identify the feasible region for non-trivial syndrome extraction interval. We are now testing the programs on Quantinuum's full H2 emulators through aqora, which include sources of noise our Stim and Selene models leave out; all 16 programs have passed the H2-1SC syntax check.</a:t>
            </a:r>
          </a:p>
        </p:txBody>
      </p:sp>
      <p:sp>
        <p:nvSpPr>
          <p:cNvPr id="6" name="Heading Approach"/>
          <p:cNvSpPr txBox="1"/>
          <p:nvPr/>
        </p:nvSpPr>
        <p:spPr>
          <a:xfrm>
            <a:off x="274320" y="3047999"/>
            <a:ext cx="7223760" cy="289560"/>
          </a:xfrm>
          <a:prstGeom prst="rect">
            <a:avLst/>
          </a:prstGeom>
          <a:noFill/>
        </p:spPr>
        <p:txBody>
          <a:bodyPr wrap="square" lIns="0" rIns="0" tIns="0" bIns="0">
            <a:spAutoFit/>
          </a:bodyPr>
          <a:lstStyle/>
          <a:p>
            <a:pPr algn="l">
              <a:lnSpc>
                <a:spcPct val="118000"/>
              </a:lnSpc>
            </a:pPr>
            <a:r>
              <a:rPr sz="1400" b="1" i="0">
                <a:solidFill>
                  <a:srgbClr val="0B4F6C"/>
                </a:solidFill>
                <a:latin typeface="Arial"/>
              </a:rPr>
              <a:t>Approach</a:t>
            </a:r>
          </a:p>
        </p:txBody>
      </p:sp>
      <p:sp>
        <p:nvSpPr>
          <p:cNvPr id="7" name="Approach 1"/>
          <p:cNvSpPr txBox="1"/>
          <p:nvPr/>
        </p:nvSpPr>
        <p:spPr>
          <a:xfrm>
            <a:off x="530352" y="3374135"/>
            <a:ext cx="6967728" cy="256032"/>
          </a:xfrm>
          <a:prstGeom prst="rect">
            <a:avLst/>
          </a:prstGeom>
          <a:noFill/>
        </p:spPr>
        <p:txBody>
          <a:bodyPr wrap="square" lIns="0" rIns="0" tIns="0" bIns="0">
            <a:spAutoFit/>
          </a:bodyPr>
          <a:lstStyle/>
          <a:p>
            <a:pPr algn="l">
              <a:lnSpc>
                <a:spcPct val="118000"/>
              </a:lnSpc>
            </a:pPr>
            <a:r>
              <a:rPr sz="1200" b="0" i="0">
                <a:solidFill>
                  <a:srgbClr val="1B222C"/>
                </a:solidFill>
                <a:latin typeface="Arial"/>
              </a:rPr>
              <a:t>Phenomenological simulation using Guppy</a:t>
            </a:r>
          </a:p>
        </p:txBody>
      </p:sp>
      <p:sp>
        <p:nvSpPr>
          <p:cNvPr id="8" name="TextBox 7"/>
          <p:cNvSpPr txBox="1"/>
          <p:nvPr/>
        </p:nvSpPr>
        <p:spPr>
          <a:xfrm>
            <a:off x="274320" y="3374135"/>
            <a:ext cx="256032" cy="201168"/>
          </a:xfrm>
          <a:prstGeom prst="rect">
            <a:avLst/>
          </a:prstGeom>
          <a:noFill/>
        </p:spPr>
        <p:txBody>
          <a:bodyPr wrap="none" lIns="0" tIns="0">
            <a:spAutoFit/>
          </a:bodyPr>
          <a:lstStyle/>
          <a:p>
            <a:r>
              <a:rPr sz="1200">
                <a:solidFill>
                  <a:srgbClr val="1B222C"/>
                </a:solidFill>
                <a:latin typeface="Arial"/>
              </a:rPr>
              <a:t>1.</a:t>
            </a:r>
          </a:p>
        </p:txBody>
      </p:sp>
      <p:sp>
        <p:nvSpPr>
          <p:cNvPr id="9" name="Fig a title"/>
          <p:cNvSpPr txBox="1"/>
          <p:nvPr/>
        </p:nvSpPr>
        <p:spPr>
          <a:xfrm>
            <a:off x="274320" y="3703320"/>
            <a:ext cx="7223760" cy="457200"/>
          </a:xfrm>
          <a:prstGeom prst="rect">
            <a:avLst/>
          </a:prstGeom>
          <a:noFill/>
        </p:spPr>
        <p:txBody>
          <a:bodyPr wrap="square" lIns="0" rIns="0" tIns="0" bIns="0">
            <a:spAutoFit/>
          </a:bodyPr>
          <a:lstStyle/>
          <a:p>
            <a:pPr algn="l">
              <a:lnSpc>
                <a:spcPct val="118000"/>
              </a:lnSpc>
            </a:pPr>
            <a:r>
              <a:rPr sz="1200" b="1" i="0">
                <a:solidFill>
                  <a:srgbClr val="1B222C"/>
                </a:solidFill>
                <a:latin typeface="Arial"/>
              </a:rPr>
              <a:t>Errors are drawn per shot by Bernoulli trials, then decoded by PyMatching. This approach leads to non-trivial syndrome extraction interval.</a:t>
            </a:r>
          </a:p>
        </p:txBody>
      </p:sp>
      <p:pic>
        <p:nvPicPr>
          <p:cNvPr id="10" name="Noise-injection pipeline" descr="w_inject_crop.png"/>
          <p:cNvPicPr>
            <a:picLocks noChangeAspect="1"/>
          </p:cNvPicPr>
          <p:nvPr/>
        </p:nvPicPr>
        <p:blipFill>
          <a:blip r:embed="rId2"/>
          <a:stretch>
            <a:fillRect/>
          </a:stretch>
        </p:blipFill>
        <p:spPr>
          <a:xfrm>
            <a:off x="274320" y="4187952"/>
            <a:ext cx="7223760" cy="2074681"/>
          </a:xfrm>
          <a:prstGeom prst="rect">
            <a:avLst/>
          </a:prstGeom>
        </p:spPr>
      </p:pic>
      <p:sp>
        <p:nvSpPr>
          <p:cNvPr id="11" name="Approach 2"/>
          <p:cNvSpPr txBox="1"/>
          <p:nvPr/>
        </p:nvSpPr>
        <p:spPr>
          <a:xfrm>
            <a:off x="530352" y="6335785"/>
            <a:ext cx="6967728" cy="256032"/>
          </a:xfrm>
          <a:prstGeom prst="rect">
            <a:avLst/>
          </a:prstGeom>
          <a:noFill/>
        </p:spPr>
        <p:txBody>
          <a:bodyPr wrap="square" lIns="0" rIns="0" tIns="0" bIns="0">
            <a:spAutoFit/>
          </a:bodyPr>
          <a:lstStyle/>
          <a:p>
            <a:pPr algn="l">
              <a:lnSpc>
                <a:spcPct val="118000"/>
              </a:lnSpc>
            </a:pPr>
            <a:r>
              <a:rPr sz="1200" b="0" i="0">
                <a:solidFill>
                  <a:srgbClr val="1B222C"/>
                </a:solidFill>
                <a:latin typeface="Arial"/>
              </a:rPr>
              <a:t>Noisy Selene Simulation with native gates</a:t>
            </a:r>
          </a:p>
        </p:txBody>
      </p:sp>
      <p:sp>
        <p:nvSpPr>
          <p:cNvPr id="12" name="TextBox 11"/>
          <p:cNvSpPr txBox="1"/>
          <p:nvPr/>
        </p:nvSpPr>
        <p:spPr>
          <a:xfrm>
            <a:off x="274320" y="6335785"/>
            <a:ext cx="256032" cy="201168"/>
          </a:xfrm>
          <a:prstGeom prst="rect">
            <a:avLst/>
          </a:prstGeom>
          <a:noFill/>
        </p:spPr>
        <p:txBody>
          <a:bodyPr wrap="none" lIns="0" tIns="0">
            <a:spAutoFit/>
          </a:bodyPr>
          <a:lstStyle/>
          <a:p>
            <a:r>
              <a:rPr sz="1200">
                <a:solidFill>
                  <a:srgbClr val="1B222C"/>
                </a:solidFill>
                <a:latin typeface="Arial"/>
              </a:rPr>
              <a:t>2.</a:t>
            </a:r>
          </a:p>
        </p:txBody>
      </p:sp>
      <p:sp>
        <p:nvSpPr>
          <p:cNvPr id="13" name="Fig b title"/>
          <p:cNvSpPr txBox="1"/>
          <p:nvPr/>
        </p:nvSpPr>
        <p:spPr>
          <a:xfrm>
            <a:off x="274320" y="6664969"/>
            <a:ext cx="7223760" cy="256032"/>
          </a:xfrm>
          <a:prstGeom prst="rect">
            <a:avLst/>
          </a:prstGeom>
          <a:noFill/>
        </p:spPr>
        <p:txBody>
          <a:bodyPr wrap="square" lIns="0" rIns="0" tIns="0" bIns="0">
            <a:spAutoFit/>
          </a:bodyPr>
          <a:lstStyle/>
          <a:p>
            <a:pPr algn="l">
              <a:lnSpc>
                <a:spcPct val="118000"/>
              </a:lnSpc>
            </a:pPr>
            <a:r>
              <a:rPr sz="1200" b="1" i="0">
                <a:solidFill>
                  <a:srgbClr val="1B222C"/>
                </a:solidFill>
                <a:latin typeface="Arial"/>
              </a:rPr>
              <a:t>The optimum survives full circuit noise in Selene</a:t>
            </a:r>
          </a:p>
        </p:txBody>
      </p:sp>
      <p:pic>
        <p:nvPicPr>
          <p:cNvPr id="14" name="Noisy Selene pipeline" descr="w_selene_crop.png"/>
          <p:cNvPicPr>
            <a:picLocks noChangeAspect="1"/>
          </p:cNvPicPr>
          <p:nvPr/>
        </p:nvPicPr>
        <p:blipFill>
          <a:blip r:embed="rId3"/>
          <a:stretch>
            <a:fillRect/>
          </a:stretch>
        </p:blipFill>
        <p:spPr>
          <a:xfrm>
            <a:off x="274320" y="6948433"/>
            <a:ext cx="7223760" cy="2074681"/>
          </a:xfrm>
          <a:prstGeom prst="rect">
            <a:avLst/>
          </a:prstGeom>
        </p:spPr>
      </p:pic>
      <p:sp>
        <p:nvSpPr>
          <p:cNvPr id="15" name="Dephasing text"/>
          <p:cNvSpPr txBox="1"/>
          <p:nvPr/>
        </p:nvSpPr>
        <p:spPr>
          <a:xfrm>
            <a:off x="274320" y="9096266"/>
            <a:ext cx="7223760" cy="658368"/>
          </a:xfrm>
          <a:prstGeom prst="rect">
            <a:avLst/>
          </a:prstGeom>
          <a:noFill/>
        </p:spPr>
        <p:txBody>
          <a:bodyPr wrap="square" lIns="0" rIns="0" tIns="0" bIns="0">
            <a:spAutoFit/>
          </a:bodyPr>
          <a:lstStyle/>
          <a:p>
            <a:pPr algn="l">
              <a:lnSpc>
                <a:spcPct val="118000"/>
              </a:lnSpc>
            </a:pPr>
            <a:r>
              <a:rPr sz="1200" b="0" i="0">
                <a:solidFill>
                  <a:srgbClr val="1B222C"/>
                </a:solidFill>
                <a:latin typeface="Arial"/>
              </a:rPr>
              <a:t>Dephasing applies Z to each data qubit over the simulated interval Δt under one of two idle models: Markovian at incoherent rate γ, or coherent phase drift at rate c. γ and c are free parameters fitted to the simulated detection events; their H2 values are unmeasured and set Δt*:</a:t>
            </a:r>
          </a:p>
        </p:txBody>
      </p:sp>
      <p:pic>
        <p:nvPicPr>
          <p:cNvPr id="16" name="Idle models formula" descr="formula.png"/>
          <p:cNvPicPr>
            <a:picLocks noChangeAspect="1"/>
          </p:cNvPicPr>
          <p:nvPr/>
        </p:nvPicPr>
        <p:blipFill>
          <a:blip r:embed="rId4"/>
          <a:stretch>
            <a:fillRect/>
          </a:stretch>
        </p:blipFill>
        <p:spPr>
          <a:xfrm>
            <a:off x="1325880" y="9827786"/>
            <a:ext cx="5120640" cy="288486"/>
          </a:xfrm>
          <a:prstGeom prst="rect">
            <a:avLst/>
          </a:prstGeom>
        </p:spPr>
      </p:pic>
      <p:sp>
        <p:nvSpPr>
          <p:cNvPr id="17" name="Heading Evidence"/>
          <p:cNvSpPr txBox="1"/>
          <p:nvPr/>
        </p:nvSpPr>
        <p:spPr>
          <a:xfrm>
            <a:off x="274320" y="10226000"/>
            <a:ext cx="7223760" cy="289560"/>
          </a:xfrm>
          <a:prstGeom prst="rect">
            <a:avLst/>
          </a:prstGeom>
          <a:noFill/>
        </p:spPr>
        <p:txBody>
          <a:bodyPr wrap="square" lIns="0" rIns="0" tIns="0" bIns="0">
            <a:spAutoFit/>
          </a:bodyPr>
          <a:lstStyle/>
          <a:p>
            <a:pPr algn="l">
              <a:lnSpc>
                <a:spcPct val="118000"/>
              </a:lnSpc>
            </a:pPr>
            <a:r>
              <a:rPr sz="1400" b="1" i="0">
                <a:solidFill>
                  <a:srgbClr val="0B4F6C"/>
                </a:solidFill>
                <a:latin typeface="Arial"/>
              </a:rPr>
              <a:t>Evidence</a:t>
            </a:r>
          </a:p>
        </p:txBody>
      </p:sp>
      <p:sp>
        <p:nvSpPr>
          <p:cNvPr id="18" name="Evidence A"/>
          <p:cNvSpPr txBox="1"/>
          <p:nvPr/>
        </p:nvSpPr>
        <p:spPr>
          <a:xfrm>
            <a:off x="274320" y="10552136"/>
            <a:ext cx="7223760" cy="859536"/>
          </a:xfrm>
          <a:prstGeom prst="rect">
            <a:avLst/>
          </a:prstGeom>
          <a:noFill/>
        </p:spPr>
        <p:txBody>
          <a:bodyPr wrap="square" lIns="0" rIns="0" tIns="0" bIns="0">
            <a:spAutoFit/>
          </a:bodyPr>
          <a:lstStyle/>
          <a:p>
            <a:pPr algn="l">
              <a:lnSpc>
                <a:spcPct val="118000"/>
              </a:lnSpc>
            </a:pPr>
            <a:r>
              <a:rPr sz="1200" b="1" i="0">
                <a:solidFill>
                  <a:srgbClr val="1B222C"/>
                </a:solidFill>
                <a:latin typeface="Arial"/>
              </a:rPr>
              <a:t>A. </a:t>
            </a:r>
            <a:r>
              <a:rPr sz="1200" b="0" i="0">
                <a:solidFill>
                  <a:srgbClr val="1B222C"/>
                </a:solidFill>
                <a:latin typeface="Arial"/>
              </a:rPr>
              <a:t>The interior optimum survives full circuit noise i.e. approach 2. In Fig. 1 (native gates; idle models linear 0.3, quadratic 0.01 and mixed), the full-circuit logical error per unit time (points) falls and then rises with Δt at d = 3, 5 and 7, with the circuit's Δt* marked dotted. The paper's model, calibrated once from detection events at Δt = 1 (lines), predicts Δt* within +15–20% at d = 3 and ±10% at d = 5, 7.</a:t>
            </a:r>
          </a:p>
        </p:txBody>
      </p:sp>
      <p:pic>
        <p:nvPicPr>
          <p:cNvPr id="19" name="Fig 1" descr="04_premise_realistic_noise_1.png"/>
          <p:cNvPicPr>
            <a:picLocks noChangeAspect="1"/>
          </p:cNvPicPr>
          <p:nvPr/>
        </p:nvPicPr>
        <p:blipFill>
          <a:blip r:embed="rId5"/>
          <a:stretch>
            <a:fillRect/>
          </a:stretch>
        </p:blipFill>
        <p:spPr>
          <a:xfrm>
            <a:off x="274320" y="11484824"/>
            <a:ext cx="7223760" cy="2329060"/>
          </a:xfrm>
          <a:prstGeom prst="rect">
            <a:avLst/>
          </a:prstGeom>
        </p:spPr>
      </p:pic>
      <p:sp>
        <p:nvSpPr>
          <p:cNvPr id="20" name="Evidence B"/>
          <p:cNvSpPr txBox="1"/>
          <p:nvPr/>
        </p:nvSpPr>
        <p:spPr>
          <a:xfrm>
            <a:off x="274320" y="13887037"/>
            <a:ext cx="7223760" cy="256032"/>
          </a:xfrm>
          <a:prstGeom prst="rect">
            <a:avLst/>
          </a:prstGeom>
          <a:noFill/>
        </p:spPr>
        <p:txBody>
          <a:bodyPr wrap="square" lIns="0" rIns="0" tIns="0" bIns="0">
            <a:spAutoFit/>
          </a:bodyPr>
          <a:lstStyle/>
          <a:p>
            <a:pPr algn="l">
              <a:lnSpc>
                <a:spcPct val="118000"/>
              </a:lnSpc>
            </a:pPr>
            <a:r>
              <a:rPr sz="1200" b="1" i="0">
                <a:solidFill>
                  <a:srgbClr val="1B222C"/>
                </a:solidFill>
                <a:latin typeface="Arial"/>
              </a:rPr>
              <a:t>B. </a:t>
            </a:r>
            <a:r>
              <a:rPr sz="1200" b="0" i="0">
                <a:solidFill>
                  <a:srgbClr val="1B222C"/>
                </a:solidFill>
                <a:latin typeface="Arial"/>
              </a:rPr>
              <a:t>Expected tradeoff on H2</a:t>
            </a:r>
          </a:p>
        </p:txBody>
      </p:sp>
      <p:pic>
        <p:nvPicPr>
          <p:cNvPr id="21" name="Fig 2" descr="07_dt_star_vs_idle_strength_3.png"/>
          <p:cNvPicPr>
            <a:picLocks noChangeAspect="1"/>
          </p:cNvPicPr>
          <p:nvPr/>
        </p:nvPicPr>
        <p:blipFill>
          <a:blip r:embed="rId6"/>
          <a:stretch>
            <a:fillRect/>
          </a:stretch>
        </p:blipFill>
        <p:spPr>
          <a:xfrm>
            <a:off x="274320" y="14216221"/>
            <a:ext cx="7223760" cy="2446160"/>
          </a:xfrm>
          <a:prstGeom prst="rect">
            <a:avLst/>
          </a:prstGeom>
        </p:spPr>
      </p:pic>
      <p:sp>
        <p:nvSpPr>
          <p:cNvPr id="22" name="Fig 2 text"/>
          <p:cNvSpPr txBox="1"/>
          <p:nvPr/>
        </p:nvSpPr>
        <p:spPr>
          <a:xfrm>
            <a:off x="274320" y="16735534"/>
            <a:ext cx="7223760" cy="859536"/>
          </a:xfrm>
          <a:prstGeom prst="rect">
            <a:avLst/>
          </a:prstGeom>
          <a:noFill/>
        </p:spPr>
        <p:txBody>
          <a:bodyPr wrap="square" lIns="0" rIns="0" tIns="0" bIns="0">
            <a:spAutoFit/>
          </a:bodyPr>
          <a:lstStyle/>
          <a:p>
            <a:pPr algn="l">
              <a:lnSpc>
                <a:spcPct val="118000"/>
              </a:lnSpc>
            </a:pPr>
            <a:r>
              <a:rPr sz="1200" b="0" i="0">
                <a:solidFill>
                  <a:srgbClr val="1B222C"/>
                </a:solidFill>
                <a:latin typeface="Arial"/>
              </a:rPr>
              <a:t>Fig. 2 maps the optimal interval Δt*/t_R over the idle plane at d = 3, 5 and 7: linear idle strength γ/p₂ against quadratic idle strength c/p₂, both relative to the two-qubit gate error p₂. Beyond the white line, waiting gains less than 5% over Δt=1. The dark line places H2-1E idle rates by round duration t_R; it stays inside the gain region up to t_R ≈ 100–300 ms, where it crosses the white line.</a:t>
            </a:r>
          </a:p>
        </p:txBody>
      </p:sp>
      <p:sp>
        <p:nvSpPr>
          <p:cNvPr id="23" name="Heading Scientific impact"/>
          <p:cNvSpPr txBox="1"/>
          <p:nvPr/>
        </p:nvSpPr>
        <p:spPr>
          <a:xfrm>
            <a:off x="274320" y="17704798"/>
            <a:ext cx="7223760" cy="289560"/>
          </a:xfrm>
          <a:prstGeom prst="rect">
            <a:avLst/>
          </a:prstGeom>
          <a:noFill/>
        </p:spPr>
        <p:txBody>
          <a:bodyPr wrap="square" lIns="0" rIns="0" tIns="0" bIns="0">
            <a:spAutoFit/>
          </a:bodyPr>
          <a:lstStyle/>
          <a:p>
            <a:pPr algn="l">
              <a:lnSpc>
                <a:spcPct val="118000"/>
              </a:lnSpc>
            </a:pPr>
            <a:r>
              <a:rPr sz="1400" b="1" i="0">
                <a:solidFill>
                  <a:srgbClr val="0B4F6C"/>
                </a:solidFill>
                <a:latin typeface="Arial"/>
              </a:rPr>
              <a:t>Scientific impact</a:t>
            </a:r>
          </a:p>
        </p:txBody>
      </p:sp>
      <p:sp>
        <p:nvSpPr>
          <p:cNvPr id="24" name="Impact text"/>
          <p:cNvSpPr txBox="1"/>
          <p:nvPr/>
        </p:nvSpPr>
        <p:spPr>
          <a:xfrm>
            <a:off x="274320" y="18030934"/>
            <a:ext cx="7223760" cy="658368"/>
          </a:xfrm>
          <a:prstGeom prst="rect">
            <a:avLst/>
          </a:prstGeom>
          <a:noFill/>
        </p:spPr>
        <p:txBody>
          <a:bodyPr wrap="square" lIns="0" rIns="0" tIns="0" bIns="0">
            <a:spAutoFit/>
          </a:bodyPr>
          <a:lstStyle/>
          <a:p>
            <a:pPr algn="l">
              <a:lnSpc>
                <a:spcPct val="118000"/>
              </a:lnSpc>
            </a:pPr>
            <a:r>
              <a:rPr sz="1200" b="0" i="0">
                <a:solidFill>
                  <a:srgbClr val="1B222C"/>
                </a:solidFill>
                <a:latin typeface="Arial"/>
              </a:rPr>
              <a:t>Algorithms leave most logical qubits idle: sequential workloads spend 84–87% (adder) and 41–51% (QFT) of their qubit-time waiting, so how an idle memory is protected governs most of a computation's space-time volume.</a:t>
            </a:r>
          </a:p>
        </p:txBody>
      </p:sp>
      <p:sp>
        <p:nvSpPr>
          <p:cNvPr id="25" name="Impact bullet 1"/>
          <p:cNvSpPr txBox="1"/>
          <p:nvPr/>
        </p:nvSpPr>
        <p:spPr>
          <a:xfrm>
            <a:off x="475488" y="18762454"/>
            <a:ext cx="7022592" cy="658368"/>
          </a:xfrm>
          <a:prstGeom prst="rect">
            <a:avLst/>
          </a:prstGeom>
          <a:noFill/>
        </p:spPr>
        <p:txBody>
          <a:bodyPr wrap="square" lIns="0" rIns="0" tIns="0" bIns="0">
            <a:spAutoFit/>
          </a:bodyPr>
          <a:lstStyle/>
          <a:p>
            <a:pPr algn="l">
              <a:lnSpc>
                <a:spcPct val="118000"/>
              </a:lnSpc>
            </a:pPr>
            <a:r>
              <a:rPr sz="1200" b="1" i="0">
                <a:solidFill>
                  <a:srgbClr val="1B222C"/>
                </a:solidFill>
                <a:latin typeface="Arial"/>
              </a:rPr>
              <a:t>Time can stand in for space.</a:t>
            </a:r>
            <a:r>
              <a:rPr sz="1200" b="0" i="0">
                <a:solidFill>
                  <a:srgbClr val="1B222C"/>
                </a:solidFill>
                <a:latin typeface="Arial"/>
              </a:rPr>
              <a:t> For idling qubits a longer syndrome interval lowers logical error per unit time: waiting at distance d can beat back-to-back extraction at d + 2, saving 16–24 data qubits per logical qubit at short round durations. (see  fig in saved)</a:t>
            </a:r>
          </a:p>
        </p:txBody>
      </p:sp>
      <p:sp>
        <p:nvSpPr>
          <p:cNvPr id="26" name="TextBox 25"/>
          <p:cNvSpPr txBox="1"/>
          <p:nvPr/>
        </p:nvSpPr>
        <p:spPr>
          <a:xfrm>
            <a:off x="310896" y="18762454"/>
            <a:ext cx="182880" cy="201168"/>
          </a:xfrm>
          <a:prstGeom prst="rect">
            <a:avLst/>
          </a:prstGeom>
          <a:noFill/>
        </p:spPr>
        <p:txBody>
          <a:bodyPr wrap="none" lIns="0" tIns="0">
            <a:spAutoFit/>
          </a:bodyPr>
          <a:lstStyle/>
          <a:p>
            <a:r>
              <a:rPr sz="1200">
                <a:solidFill>
                  <a:srgbClr val="0B4F6C"/>
                </a:solidFill>
                <a:latin typeface="Arial"/>
              </a:rPr>
              <a:t>•</a:t>
            </a:r>
          </a:p>
        </p:txBody>
      </p:sp>
      <p:sp>
        <p:nvSpPr>
          <p:cNvPr id="27" name="Impact bullet 2"/>
          <p:cNvSpPr txBox="1"/>
          <p:nvPr/>
        </p:nvSpPr>
        <p:spPr>
          <a:xfrm>
            <a:off x="475488" y="19466542"/>
            <a:ext cx="7022592" cy="457200"/>
          </a:xfrm>
          <a:prstGeom prst="rect">
            <a:avLst/>
          </a:prstGeom>
          <a:noFill/>
        </p:spPr>
        <p:txBody>
          <a:bodyPr wrap="square" lIns="0" rIns="0" tIns="0" bIns="0">
            <a:spAutoFit/>
          </a:bodyPr>
          <a:lstStyle/>
          <a:p>
            <a:pPr algn="l">
              <a:lnSpc>
                <a:spcPct val="118000"/>
              </a:lnSpc>
            </a:pPr>
            <a:r>
              <a:rPr sz="1200" b="1" i="0">
                <a:solidFill>
                  <a:srgbClr val="1B222C"/>
                </a:solidFill>
                <a:latin typeface="Arial"/>
              </a:rPr>
              <a:t>Generalised across noise models.</a:t>
            </a:r>
            <a:r>
              <a:rPr sz="1200" b="0" i="0">
                <a:solidFill>
                  <a:srgbClr val="1B222C"/>
                </a:solidFill>
                <a:latin typeface="Arial"/>
              </a:rPr>
              <a:t> Δt* is mapped over linear and quadratic idle noise (γ, c) with gate noise, not one fixed phenomenological model.</a:t>
            </a:r>
          </a:p>
        </p:txBody>
      </p:sp>
      <p:sp>
        <p:nvSpPr>
          <p:cNvPr id="28" name="TextBox 27"/>
          <p:cNvSpPr txBox="1"/>
          <p:nvPr/>
        </p:nvSpPr>
        <p:spPr>
          <a:xfrm>
            <a:off x="310896" y="19466542"/>
            <a:ext cx="182880" cy="201168"/>
          </a:xfrm>
          <a:prstGeom prst="rect">
            <a:avLst/>
          </a:prstGeom>
          <a:noFill/>
        </p:spPr>
        <p:txBody>
          <a:bodyPr wrap="none" lIns="0" tIns="0">
            <a:spAutoFit/>
          </a:bodyPr>
          <a:lstStyle/>
          <a:p>
            <a:r>
              <a:rPr sz="1200">
                <a:solidFill>
                  <a:srgbClr val="0B4F6C"/>
                </a:solidFill>
                <a:latin typeface="Arial"/>
              </a:rPr>
              <a:t>•</a:t>
            </a:r>
          </a:p>
        </p:txBody>
      </p:sp>
      <p:sp>
        <p:nvSpPr>
          <p:cNvPr id="29" name="Impact bullet 3"/>
          <p:cNvSpPr txBox="1"/>
          <p:nvPr/>
        </p:nvSpPr>
        <p:spPr>
          <a:xfrm>
            <a:off x="475488" y="19969462"/>
            <a:ext cx="7022592" cy="658368"/>
          </a:xfrm>
          <a:prstGeom prst="rect">
            <a:avLst/>
          </a:prstGeom>
          <a:noFill/>
        </p:spPr>
        <p:txBody>
          <a:bodyPr wrap="square" lIns="0" rIns="0" tIns="0" bIns="0">
            <a:spAutoFit/>
          </a:bodyPr>
          <a:lstStyle/>
          <a:p>
            <a:pPr algn="l">
              <a:lnSpc>
                <a:spcPct val="118000"/>
              </a:lnSpc>
            </a:pPr>
            <a:r>
              <a:rPr sz="1200" b="1" i="0">
                <a:solidFill>
                  <a:srgbClr val="1B222C"/>
                </a:solidFill>
                <a:latin typeface="Arial"/>
              </a:rPr>
              <a:t>Linked to hardware feasibility.</a:t>
            </a:r>
            <a:r>
              <a:rPr sz="1200" b="0" i="0">
                <a:solidFill>
                  <a:srgbClr val="1B222C"/>
                </a:solidFill>
                <a:latin typeface="Arial"/>
              </a:rPr>
              <a:t> Placing H2-1E idle rates on that map ties the gain to the round duration: waiting helps up to t_R ≈ 100–300 ms, and one calibration at Δt = 1 predicts Δt* within 10–20%.</a:t>
            </a:r>
          </a:p>
        </p:txBody>
      </p:sp>
      <p:sp>
        <p:nvSpPr>
          <p:cNvPr id="30" name="TextBox 29"/>
          <p:cNvSpPr txBox="1"/>
          <p:nvPr/>
        </p:nvSpPr>
        <p:spPr>
          <a:xfrm>
            <a:off x="310896" y="19969462"/>
            <a:ext cx="182880" cy="201168"/>
          </a:xfrm>
          <a:prstGeom prst="rect">
            <a:avLst/>
          </a:prstGeom>
          <a:noFill/>
        </p:spPr>
        <p:txBody>
          <a:bodyPr wrap="none" lIns="0" tIns="0">
            <a:spAutoFit/>
          </a:bodyPr>
          <a:lstStyle/>
          <a:p>
            <a:r>
              <a:rPr sz="1200">
                <a:solidFill>
                  <a:srgbClr val="0B4F6C"/>
                </a:solidFill>
                <a:latin typeface="Arial"/>
              </a:rPr>
              <a:t>•</a:t>
            </a:r>
          </a:p>
        </p:txBody>
      </p:sp>
      <p:sp>
        <p:nvSpPr>
          <p:cNvPr id="31" name="Impact bullet 4"/>
          <p:cNvSpPr txBox="1"/>
          <p:nvPr/>
        </p:nvSpPr>
        <p:spPr>
          <a:xfrm>
            <a:off x="475488" y="20673550"/>
            <a:ext cx="7022592" cy="457200"/>
          </a:xfrm>
          <a:prstGeom prst="rect">
            <a:avLst/>
          </a:prstGeom>
          <a:noFill/>
        </p:spPr>
        <p:txBody>
          <a:bodyPr wrap="square" lIns="0" rIns="0" tIns="0" bIns="0">
            <a:spAutoFit/>
          </a:bodyPr>
          <a:lstStyle/>
          <a:p>
            <a:pPr algn="l">
              <a:lnSpc>
                <a:spcPct val="118000"/>
              </a:lnSpc>
            </a:pPr>
            <a:r>
              <a:rPr sz="1200" b="1" i="0">
                <a:solidFill>
                  <a:srgbClr val="1B222C"/>
                </a:solidFill>
                <a:latin typeface="Arial"/>
              </a:rPr>
              <a:t>Calibrating the outlook.</a:t>
            </a:r>
            <a:r>
              <a:rPr sz="1200" b="0" i="0">
                <a:solidFill>
                  <a:srgbClr val="1B222C"/>
                </a:solidFill>
                <a:latin typeface="Arial"/>
              </a:rPr>
              <a:t> Small-scale runs on the H2 emulators are under way to fix where H2 sits on the map.</a:t>
            </a:r>
          </a:p>
        </p:txBody>
      </p:sp>
      <p:sp>
        <p:nvSpPr>
          <p:cNvPr id="32" name="TextBox 31"/>
          <p:cNvSpPr txBox="1"/>
          <p:nvPr/>
        </p:nvSpPr>
        <p:spPr>
          <a:xfrm>
            <a:off x="310896" y="20673550"/>
            <a:ext cx="182880" cy="201168"/>
          </a:xfrm>
          <a:prstGeom prst="rect">
            <a:avLst/>
          </a:prstGeom>
          <a:noFill/>
        </p:spPr>
        <p:txBody>
          <a:bodyPr wrap="none" lIns="0" tIns="0">
            <a:spAutoFit/>
          </a:bodyPr>
          <a:lstStyle/>
          <a:p>
            <a:r>
              <a:rPr sz="1200">
                <a:solidFill>
                  <a:srgbClr val="0B4F6C"/>
                </a:solidFill>
                <a:latin typeface="Arial"/>
              </a:rPr>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