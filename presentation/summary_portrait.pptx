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1828036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9592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B4F6C"/>
                </a:solidFill>
                <a:latin typeface="Cambria"/>
              </a:rPr>
              <a:t>Optimal syndrome timing on trapped-ion hardware</a:t>
            </a:r>
          </a:p>
        </p:txBody>
      </p:sp>
      <p:sp>
        <p:nvSpPr>
          <p:cNvPr id="3" name="Byline"/>
          <p:cNvSpPr txBox="1"/>
          <p:nvPr/>
        </p:nvSpPr>
        <p:spPr>
          <a:xfrm>
            <a:off x="548640" y="1115568"/>
            <a:ext cx="9592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26E"/>
                </a:solidFill>
                <a:latin typeface="Calibri"/>
              </a:rPr>
              <a:t>14 Oct 2026  ·  Harshit Verma</a:t>
            </a:r>
          </a:p>
        </p:txBody>
      </p:sp>
      <p:sp>
        <p:nvSpPr>
          <p:cNvPr id="4" name="Summary card"/>
          <p:cNvSpPr/>
          <p:nvPr/>
        </p:nvSpPr>
        <p:spPr>
          <a:xfrm>
            <a:off x="548640" y="1536192"/>
            <a:ext cx="9592056" cy="2121408"/>
          </a:xfrm>
          <a:prstGeom prst="roundRect">
            <a:avLst>
              <a:gd name="adj" fmla="val 6000"/>
            </a:avLst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mmary text"/>
          <p:cNvSpPr txBox="1"/>
          <p:nvPr/>
        </p:nvSpPr>
        <p:spPr>
          <a:xfrm>
            <a:off x="777240" y="1691640"/>
            <a:ext cx="913485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4F6C"/>
                </a:solidFill>
                <a:latin typeface="Calibri"/>
              </a:rPr>
              <a:t>Summary.  </a:t>
            </a:r>
            <a:r>
              <a:rPr sz="1400" b="0" i="0">
                <a:solidFill>
                  <a:srgbClr val="1B222C"/>
                </a:solidFill>
                <a:latin typeface="Calibri"/>
              </a:rPr>
              <a:t>An idle surface-code memory has a syndrome interval Δt* that minimises logical error per unit time due to the tradeoff between idling and noisy syndrome extraction. The project tests this tradeoff in three steps: (a) phenomenological simulation using artificial noise injection in Guppy; (b) a dephasing noise model (based on Quantinuum literature) along with gate noise, built in Selene and Stim-equivalent circuits; (c) relating physical parameters of a Quantinuum-like device, the physical QEC round time, to the tradeoff to identify the feasible region for a non-trivial syndrome extraction interval. We are now testing the programs on Quantinuum's full H2 emulators through aqora, which include sources of noise our Stim and Selene models leave out; all 16 programs have passed the H2-1SC syntax check.</a:t>
            </a:r>
          </a:p>
        </p:txBody>
      </p:sp>
      <p:sp>
        <p:nvSpPr>
          <p:cNvPr id="6" name="Heading Premise"/>
          <p:cNvSpPr txBox="1"/>
          <p:nvPr/>
        </p:nvSpPr>
        <p:spPr>
          <a:xfrm>
            <a:off x="548640" y="3840480"/>
            <a:ext cx="9592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B4F6C"/>
                </a:solidFill>
                <a:latin typeface="Cambria"/>
              </a:rPr>
              <a:t>Premise</a:t>
            </a:r>
          </a:p>
        </p:txBody>
      </p:sp>
      <p:sp>
        <p:nvSpPr>
          <p:cNvPr id="7" name="Step Seed RNG"/>
          <p:cNvSpPr/>
          <p:nvPr/>
        </p:nvSpPr>
        <p:spPr>
          <a:xfrm>
            <a:off x="548640" y="4645152"/>
            <a:ext cx="1446276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4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ep text Seed RNG"/>
          <p:cNvSpPr txBox="1"/>
          <p:nvPr/>
        </p:nvSpPr>
        <p:spPr>
          <a:xfrm>
            <a:off x="603503" y="4718304"/>
            <a:ext cx="13365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B222C"/>
                </a:solidFill>
                <a:latin typeface="Calibri"/>
              </a:rPr>
              <a:t>Seed RNG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once per shot</a:t>
            </a:r>
          </a:p>
        </p:txBody>
      </p:sp>
      <p:sp>
        <p:nvSpPr>
          <p:cNvPr id="9" name="Arrow 0"/>
          <p:cNvSpPr/>
          <p:nvPr/>
        </p:nvSpPr>
        <p:spPr>
          <a:xfrm>
            <a:off x="2022347" y="4974336"/>
            <a:ext cx="128016" cy="128016"/>
          </a:xfrm>
          <a:prstGeom prst="rightArrow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Prepare"/>
          <p:cNvSpPr/>
          <p:nvPr/>
        </p:nvSpPr>
        <p:spPr>
          <a:xfrm>
            <a:off x="2177796" y="4645152"/>
            <a:ext cx="1446276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4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 text Prepare"/>
          <p:cNvSpPr txBox="1"/>
          <p:nvPr/>
        </p:nvSpPr>
        <p:spPr>
          <a:xfrm>
            <a:off x="2232660" y="4718304"/>
            <a:ext cx="13365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B222C"/>
                </a:solidFill>
                <a:latin typeface="Calibri"/>
              </a:rPr>
              <a:t>Prepare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data in |+⟩</a:t>
            </a:r>
          </a:p>
        </p:txBody>
      </p:sp>
      <p:sp>
        <p:nvSpPr>
          <p:cNvPr id="12" name="Arrow 1"/>
          <p:cNvSpPr/>
          <p:nvPr/>
        </p:nvSpPr>
        <p:spPr>
          <a:xfrm>
            <a:off x="3651504" y="4974336"/>
            <a:ext cx="128016" cy="128016"/>
          </a:xfrm>
          <a:prstGeom prst="rightArrow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Z error"/>
          <p:cNvSpPr/>
          <p:nvPr/>
        </p:nvSpPr>
        <p:spPr>
          <a:xfrm>
            <a:off x="3806952" y="4645152"/>
            <a:ext cx="1446276" cy="786384"/>
          </a:xfrm>
          <a:prstGeom prst="roundRect">
            <a:avLst>
              <a:gd name="adj" fmla="val 12000"/>
            </a:avLst>
          </a:prstGeom>
          <a:solidFill>
            <a:srgbClr val="FBEBDF"/>
          </a:solidFill>
          <a:ln w="19050">
            <a:solidFill>
              <a:srgbClr val="D96C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 text Z error"/>
          <p:cNvSpPr txBox="1"/>
          <p:nvPr/>
        </p:nvSpPr>
        <p:spPr>
          <a:xfrm>
            <a:off x="3861815" y="4718304"/>
            <a:ext cx="13365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B222C"/>
                </a:solidFill>
                <a:latin typeface="Calibri"/>
              </a:rPr>
              <a:t>Z error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B222C"/>
                </a:solidFill>
                <a:latin typeface="Calibri"/>
              </a:rPr>
              <a:t>with probability p_data</a:t>
            </a:r>
          </a:p>
        </p:txBody>
      </p:sp>
      <p:sp>
        <p:nvSpPr>
          <p:cNvPr id="15" name="Arrow 2"/>
          <p:cNvSpPr/>
          <p:nvPr/>
        </p:nvSpPr>
        <p:spPr>
          <a:xfrm>
            <a:off x="5280660" y="4974336"/>
            <a:ext cx="128016" cy="128016"/>
          </a:xfrm>
          <a:prstGeom prst="rightArrow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ep Measure"/>
          <p:cNvSpPr/>
          <p:nvPr/>
        </p:nvSpPr>
        <p:spPr>
          <a:xfrm>
            <a:off x="5436108" y="4645152"/>
            <a:ext cx="1446276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4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text Measure"/>
          <p:cNvSpPr txBox="1"/>
          <p:nvPr/>
        </p:nvSpPr>
        <p:spPr>
          <a:xfrm>
            <a:off x="5490972" y="4718304"/>
            <a:ext cx="13365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B222C"/>
                </a:solidFill>
                <a:latin typeface="Calibri"/>
              </a:rPr>
              <a:t>Measure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each check</a:t>
            </a:r>
          </a:p>
        </p:txBody>
      </p:sp>
      <p:sp>
        <p:nvSpPr>
          <p:cNvPr id="18" name="Arrow 3"/>
          <p:cNvSpPr/>
          <p:nvPr/>
        </p:nvSpPr>
        <p:spPr>
          <a:xfrm>
            <a:off x="6909816" y="4974336"/>
            <a:ext cx="128016" cy="128016"/>
          </a:xfrm>
          <a:prstGeom prst="rightArrow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 Flip record"/>
          <p:cNvSpPr/>
          <p:nvPr/>
        </p:nvSpPr>
        <p:spPr>
          <a:xfrm>
            <a:off x="7065264" y="4645152"/>
            <a:ext cx="1446276" cy="786384"/>
          </a:xfrm>
          <a:prstGeom prst="roundRect">
            <a:avLst>
              <a:gd name="adj" fmla="val 12000"/>
            </a:avLst>
          </a:prstGeom>
          <a:solidFill>
            <a:srgbClr val="FBEBDF"/>
          </a:solidFill>
          <a:ln w="19050">
            <a:solidFill>
              <a:srgbClr val="D96C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 text Flip record"/>
          <p:cNvSpPr txBox="1"/>
          <p:nvPr/>
        </p:nvSpPr>
        <p:spPr>
          <a:xfrm>
            <a:off x="7120128" y="4718304"/>
            <a:ext cx="13365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B222C"/>
                </a:solidFill>
                <a:latin typeface="Calibri"/>
              </a:rPr>
              <a:t>Flip record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B222C"/>
                </a:solidFill>
                <a:latin typeface="Calibri"/>
              </a:rPr>
              <a:t>with probability p_read</a:t>
            </a:r>
          </a:p>
        </p:txBody>
      </p:sp>
      <p:sp>
        <p:nvSpPr>
          <p:cNvPr id="21" name="Arrow 4"/>
          <p:cNvSpPr/>
          <p:nvPr/>
        </p:nvSpPr>
        <p:spPr>
          <a:xfrm>
            <a:off x="8538972" y="4974336"/>
            <a:ext cx="128016" cy="128016"/>
          </a:xfrm>
          <a:prstGeom prst="rightArrow">
            <a:avLst/>
          </a:prstGeom>
          <a:solidFill>
            <a:srgbClr val="5A6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ep Read out"/>
          <p:cNvSpPr/>
          <p:nvPr/>
        </p:nvSpPr>
        <p:spPr>
          <a:xfrm>
            <a:off x="8694420" y="4645152"/>
            <a:ext cx="1446276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B4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 text Read out"/>
          <p:cNvSpPr txBox="1"/>
          <p:nvPr/>
        </p:nvSpPr>
        <p:spPr>
          <a:xfrm>
            <a:off x="8749284" y="4718304"/>
            <a:ext cx="13365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B222C"/>
                </a:solidFill>
                <a:latin typeface="Calibri"/>
              </a:rPr>
              <a:t>Read out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data in X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806952" y="4425696"/>
            <a:ext cx="0" cy="109728"/>
          </a:xfrm>
          <a:prstGeom prst="line">
            <a:avLst/>
          </a:prstGeom>
          <a:ln w="1270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06952" y="4425696"/>
            <a:ext cx="4704588" cy="0"/>
          </a:xfrm>
          <a:prstGeom prst="line">
            <a:avLst/>
          </a:prstGeom>
          <a:ln w="1270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11540" y="4425696"/>
            <a:ext cx="0" cy="109728"/>
          </a:xfrm>
          <a:prstGeom prst="line">
            <a:avLst/>
          </a:prstGeom>
          <a:ln w="12700">
            <a:solidFill>
              <a:srgbClr val="5A6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 label"/>
          <p:cNvSpPr txBox="1"/>
          <p:nvPr/>
        </p:nvSpPr>
        <p:spPr>
          <a:xfrm>
            <a:off x="3806952" y="4151376"/>
            <a:ext cx="47045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each round, R times</a:t>
            </a:r>
          </a:p>
        </p:txBody>
      </p:sp>
      <p:sp>
        <p:nvSpPr>
          <p:cNvPr id="28" name="Premise text"/>
          <p:cNvSpPr txBox="1"/>
          <p:nvPr/>
        </p:nvSpPr>
        <p:spPr>
          <a:xfrm>
            <a:off x="548640" y="5559552"/>
            <a:ext cx="95920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22C"/>
                </a:solidFill>
                <a:latin typeface="Calibri"/>
              </a:rPr>
              <a:t>We inject the noise ourselves, inside the program. Each shot seeds one random-number generator. Before every round, each data qubit gets a Z error with probability p_data; after each check is measured, its recorded bit is flipped with probability p_read. The same program then runs on Selene, the emulator and the device.</a:t>
            </a:r>
          </a:p>
        </p:txBody>
      </p:sp>
      <p:sp>
        <p:nvSpPr>
          <p:cNvPr id="29" name="Heading Evidence"/>
          <p:cNvSpPr txBox="1"/>
          <p:nvPr/>
        </p:nvSpPr>
        <p:spPr>
          <a:xfrm>
            <a:off x="548640" y="6446520"/>
            <a:ext cx="9592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B4F6C"/>
                </a:solidFill>
                <a:latin typeface="Cambria"/>
              </a:rPr>
              <a:t>Evidence</a:t>
            </a:r>
          </a:p>
        </p:txBody>
      </p:sp>
      <p:sp>
        <p:nvSpPr>
          <p:cNvPr id="30" name="Evidence card 1"/>
          <p:cNvSpPr/>
          <p:nvPr/>
        </p:nvSpPr>
        <p:spPr>
          <a:xfrm>
            <a:off x="548640" y="6903720"/>
            <a:ext cx="4681728" cy="1783080"/>
          </a:xfrm>
          <a:prstGeom prst="roundRect">
            <a:avLst>
              <a:gd name="adj" fmla="val 6000"/>
            </a:avLst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vidence number 1"/>
          <p:cNvSpPr/>
          <p:nvPr/>
        </p:nvSpPr>
        <p:spPr>
          <a:xfrm>
            <a:off x="713232" y="7068312"/>
            <a:ext cx="329184" cy="329184"/>
          </a:xfrm>
          <a:prstGeom prst="ellipse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Evidence text 1"/>
          <p:cNvSpPr txBox="1"/>
          <p:nvPr/>
        </p:nvSpPr>
        <p:spPr>
          <a:xfrm>
            <a:off x="1152144" y="7031736"/>
            <a:ext cx="3913632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22C"/>
                </a:solidFill>
                <a:latin typeface="Calibri"/>
              </a:rPr>
              <a:t>The paper's model reproduces, with noise injected in a device program.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22C"/>
                </a:solidFill>
                <a:latin typeface="Calibri"/>
              </a:rPr>
              <a:t>Guppy and Stim agree at 18/18 settings (χ² p = 0.51). 1/Δt* = (0.385 ± 0.013) d − 0.92 for d = 5–11; paper: 0.402 (1.3σ).</a:t>
            </a:r>
          </a:p>
        </p:txBody>
      </p:sp>
      <p:sp>
        <p:nvSpPr>
          <p:cNvPr id="33" name="Evidence card 2"/>
          <p:cNvSpPr/>
          <p:nvPr/>
        </p:nvSpPr>
        <p:spPr>
          <a:xfrm>
            <a:off x="5458968" y="6903720"/>
            <a:ext cx="4681728" cy="1783080"/>
          </a:xfrm>
          <a:prstGeom prst="roundRect">
            <a:avLst>
              <a:gd name="adj" fmla="val 6000"/>
            </a:avLst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vidence number 2"/>
          <p:cNvSpPr/>
          <p:nvPr/>
        </p:nvSpPr>
        <p:spPr>
          <a:xfrm>
            <a:off x="5623559" y="7068312"/>
            <a:ext cx="329184" cy="329184"/>
          </a:xfrm>
          <a:prstGeom prst="ellipse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Evidence text 2"/>
          <p:cNvSpPr txBox="1"/>
          <p:nvPr/>
        </p:nvSpPr>
        <p:spPr>
          <a:xfrm>
            <a:off x="6062472" y="7031736"/>
            <a:ext cx="3913632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22C"/>
                </a:solidFill>
                <a:latin typeface="Calibri"/>
              </a:rPr>
              <a:t>The trade-off survives circuit noise.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22C"/>
                </a:solidFill>
                <a:latin typeface="Calibri"/>
              </a:rPr>
              <a:t>With gate and readout errors and Z dephasing on every qubit, on textbook and native gates, 18/18 curves keep an interior optimum.</a:t>
            </a:r>
          </a:p>
        </p:txBody>
      </p:sp>
      <p:sp>
        <p:nvSpPr>
          <p:cNvPr id="36" name="Evidence card 3"/>
          <p:cNvSpPr/>
          <p:nvPr/>
        </p:nvSpPr>
        <p:spPr>
          <a:xfrm>
            <a:off x="548640" y="8869680"/>
            <a:ext cx="4681728" cy="1783080"/>
          </a:xfrm>
          <a:prstGeom prst="roundRect">
            <a:avLst>
              <a:gd name="adj" fmla="val 6000"/>
            </a:avLst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vidence number 3"/>
          <p:cNvSpPr/>
          <p:nvPr/>
        </p:nvSpPr>
        <p:spPr>
          <a:xfrm>
            <a:off x="713232" y="9034272"/>
            <a:ext cx="329184" cy="329184"/>
          </a:xfrm>
          <a:prstGeom prst="ellipse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Evidence text 3"/>
          <p:cNvSpPr txBox="1"/>
          <p:nvPr/>
        </p:nvSpPr>
        <p:spPr>
          <a:xfrm>
            <a:off x="1152144" y="8997696"/>
            <a:ext cx="3913632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22C"/>
                </a:solidFill>
                <a:latin typeface="Calibri"/>
              </a:rPr>
              <a:t>One calibration predicts the optimum.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22C"/>
                </a:solidFill>
                <a:latin typeface="Calibri"/>
              </a:rPr>
              <a:t>The paper's model with p_data and p_read measured once from detection events at Δt = 1 gives Δt* within +15–20% (d = 3) and ±10% (d = 5, 7). It underestimates p_L (×0.5 at d = 7): use it for Δt*, not for p_L.</a:t>
            </a:r>
          </a:p>
        </p:txBody>
      </p:sp>
      <p:sp>
        <p:nvSpPr>
          <p:cNvPr id="39" name="Evidence card 4"/>
          <p:cNvSpPr/>
          <p:nvPr/>
        </p:nvSpPr>
        <p:spPr>
          <a:xfrm>
            <a:off x="5458968" y="8869680"/>
            <a:ext cx="4681728" cy="1783080"/>
          </a:xfrm>
          <a:prstGeom prst="roundRect">
            <a:avLst>
              <a:gd name="adj" fmla="val 6000"/>
            </a:avLst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vidence number 4"/>
          <p:cNvSpPr/>
          <p:nvPr/>
        </p:nvSpPr>
        <p:spPr>
          <a:xfrm>
            <a:off x="5623559" y="9034272"/>
            <a:ext cx="329184" cy="329184"/>
          </a:xfrm>
          <a:prstGeom prst="ellipse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Evidence text 4"/>
          <p:cNvSpPr txBox="1"/>
          <p:nvPr/>
        </p:nvSpPr>
        <p:spPr>
          <a:xfrm>
            <a:off x="6062472" y="8997696"/>
            <a:ext cx="3913632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22C"/>
                </a:solidFill>
                <a:latin typeface="Calibri"/>
              </a:rPr>
              <a:t>The parameters must be measured, not assumed.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22C"/>
                </a:solidFill>
                <a:latin typeface="Calibri"/>
              </a:rPr>
              <a:t>A real extraction circuit has λ = 0.13–0.15 (paper 0.31) and a b_read floor of 1.2 (paper 1), lengthening Δt* 2.2–2.5× as Eq. 6 predicts. Per-qubit error varies 3×, 16% of it spreading from ancillas (native gates). Decoding with the paper's graph instead of the circuit's error model raises p_L up to 3.1× and moves Δt* threefold.</a:t>
            </a:r>
          </a:p>
        </p:txBody>
      </p:sp>
      <p:pic>
        <p:nvPicPr>
          <p:cNvPr id="42" name="Fig 1" descr="04_premise_realistic_noi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07" y="10835639"/>
            <a:ext cx="8046720" cy="2594397"/>
          </a:xfrm>
          <a:prstGeom prst="rect">
            <a:avLst/>
          </a:prstGeom>
        </p:spPr>
      </p:pic>
      <p:sp>
        <p:nvSpPr>
          <p:cNvPr id="43" name="Fig 1 caption"/>
          <p:cNvSpPr txBox="1"/>
          <p:nvPr/>
        </p:nvSpPr>
        <p:spPr>
          <a:xfrm>
            <a:off x="548640" y="13467932"/>
            <a:ext cx="9592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A626E"/>
                </a:solidFill>
                <a:latin typeface="Calibri"/>
              </a:rPr>
              <a:t>Fig. 1. Native gates. Points: full circuit. Lines: the paper's model calibrated once at Δt = 1. Dotted lines: the circuit's optimum.</a:t>
            </a:r>
          </a:p>
        </p:txBody>
      </p:sp>
      <p:sp>
        <p:nvSpPr>
          <p:cNvPr id="44" name="Heading Value on H2"/>
          <p:cNvSpPr txBox="1"/>
          <p:nvPr/>
        </p:nvSpPr>
        <p:spPr>
          <a:xfrm>
            <a:off x="548640" y="13842836"/>
            <a:ext cx="9592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B4F6C"/>
                </a:solidFill>
                <a:latin typeface="Cambria"/>
              </a:rPr>
              <a:t>Value on H2</a:t>
            </a:r>
          </a:p>
        </p:txBody>
      </p:sp>
      <p:sp>
        <p:nvSpPr>
          <p:cNvPr id="45" name="Value text"/>
          <p:cNvSpPr txBox="1"/>
          <p:nvPr/>
        </p:nvSpPr>
        <p:spPr>
          <a:xfrm>
            <a:off x="548640" y="14300036"/>
            <a:ext cx="95920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22C"/>
                </a:solidFill>
                <a:latin typeface="Calibri"/>
              </a:rPr>
              <a:t>The gain is set by the round duration t_R: ×15–45 at 1–2 ms, ×2–12 at 4–30 ms, none beyond 50–150 ms. Up to t_R = 2–4 ms, waiting at distance d beats back-to-back extraction at d + 2, saving 16–24 data qubits per logical qubit. A fitted ansatz, which predicts held-out mixed noise to within 4–6%, places H2's boundary at the same t_R. Sequential workloads idle most of their qubit-time (adder 84–87%, QFT 41–51%), so the interval acts on most of their space-time volume.</a:t>
            </a:r>
          </a:p>
        </p:txBody>
      </p:sp>
      <p:pic>
        <p:nvPicPr>
          <p:cNvPr id="46" name="Fig 2" descr="08_regime_on_h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43036"/>
            <a:ext cx="6217920" cy="2150447"/>
          </a:xfrm>
          <a:prstGeom prst="rect">
            <a:avLst/>
          </a:prstGeom>
        </p:spPr>
      </p:pic>
      <p:sp>
        <p:nvSpPr>
          <p:cNvPr id="47" name="Fig 2 caption"/>
          <p:cNvSpPr txBox="1"/>
          <p:nvPr/>
        </p:nvSpPr>
        <p:spPr>
          <a:xfrm>
            <a:off x="548640" y="17631141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A626E"/>
                </a:solidFill>
                <a:latin typeface="Calibri"/>
              </a:rPr>
              <a:t>Fig. 2. Gain in logical error per unit time over back-to-back extraction, full circuit at H2-1E emulator rates.</a:t>
            </a:r>
          </a:p>
        </p:txBody>
      </p:sp>
      <p:sp>
        <p:nvSpPr>
          <p:cNvPr id="48" name="Open card"/>
          <p:cNvSpPr/>
          <p:nvPr/>
        </p:nvSpPr>
        <p:spPr>
          <a:xfrm>
            <a:off x="7040879" y="15443036"/>
            <a:ext cx="3099816" cy="2151529"/>
          </a:xfrm>
          <a:prstGeom prst="roundRect">
            <a:avLst>
              <a:gd name="adj" fmla="val 6000"/>
            </a:avLst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pen text"/>
          <p:cNvSpPr txBox="1"/>
          <p:nvPr/>
        </p:nvSpPr>
        <p:spPr>
          <a:xfrm>
            <a:off x="7223759" y="15580196"/>
            <a:ext cx="2734056" cy="18772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4F6C"/>
                </a:solidFill>
                <a:latin typeface="Cambria"/>
              </a:rPr>
              <a:t>Open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22C"/>
                </a:solidFill>
                <a:latin typeface="Calibri"/>
              </a:rPr>
              <a:t>Nothing has run on hardware yet (provider-side outage). t_R and the quadratic-dephasing convention (×4 on Δt*) are the deciding unknowns; the QIR programs, calibration experiments and fit that measure them are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